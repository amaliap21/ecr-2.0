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Pengukuran Echo Chamber di Media Sosial Indonesia</a:t>
            </a:r>
            <a:br/>
            <a:r>
              <a:t>Menggunakan Analisis Sentimen dan Deteksi Komunitas</a:t>
            </a:r>
            <a:br/>
            <a:r>
              <a:t>dengan Framework Echo Chamber Ratio (ECR)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A5F5"/>
                </a:solidFill>
                <a:latin typeface="Calibri"/>
              </a:defRPr>
            </a:pPr>
            <a:r>
              <a:t>Amalia Putri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EFB"/>
                </a:solidFill>
                <a:latin typeface="Calibri"/>
              </a:defRPr>
            </a:pPr>
            <a:r>
              <a:t>Teknik Informatika</a:t>
            </a:r>
            <a:br/>
            <a:r>
              <a:t>Sekolah Teknik Elektro dan Informatika</a:t>
            </a:r>
            <a:br/>
            <a:r>
              <a:t>Institut Teknologi Bandung (ITB)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57575"/>
                </a:solidFill>
                <a:latin typeface="Calibri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Daftar 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1.  Latar Belakang &amp; Analisis Masalah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2.  Rumusan Masalah &amp; Tujuan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3.  Solusi: Pipeline ECR 2.0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4.  Tahapan Pipeline (5 Tahap Utama)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5.  Implementasi: Web GUI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6.  Dataset &amp; Eksperimen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7.  Hasil &amp; Analisis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8.  Kesimpulan &amp; Saran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Latar Belakang &amp; Analisis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Fenomena Echo Chamber: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73% populasi Indonesia aktif di media sosial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Algoritma rekomendasi memperkuat filter bubble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Pengguna hanya terpapar informasi sejalan pandangannya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Memperkuat polarisasi &amp; mempercepat penyebaran misinformasi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Keterbatasan Pendekatan Existing: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Network-based: hanya analisis struktur graf,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mengabaikan konten dan sentimen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Content-based: capture sentimen tapi miss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hubungan interaksi antar pengguna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Belum ada pipeline otomatis end-to-end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untuk konteks bahasa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Gap yang Diidentifikasi: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Studi echo chamber di Indonesia masih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menggunakan pendekatan manual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Tidak ada validasi statistik yang kuat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untuk hasil pengukuran echo chamber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Model sentimen generic tidak optimal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untuk bahasa Indonesia informal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Tidak ada perbandingan antar algoritma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deteksi komunitas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→ Diperlukan pipeline otomatis yang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menggabungkan analisis sentimen,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deteksi komunitas, dan validasi statistik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Rumusan Masalah &amp; Tujuan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Rumusan Masalah: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1. Bagaimana mengukur echo chamber secara kuantitatif di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percakapan media sosial Indonesia?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2. Bagaimana memvalidasi hasil pengukuran echo chamber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secara statistik agar hasilnya reliable?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3. Bagaimana membangun pipeline otomatis yang dapat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digunakan oleh peneliti tanpa memerlukan coding?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Tujuan Penelitian: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1. Mengembangkan pipeline otomatis end-to-end untuk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mengukur echo chamber menggunakan ECR 2.0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2. Mengimplementasikan multiple validation metrics: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Bootstrap CI, Permutation Test, Community Quality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3. Membangun web GUI interaktif sehingga pipeline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dapat digunakan tanpa pengetahuan programming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4. Menguji pipeline pada dataset nyata percakapan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   di media sosial Indonesia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Solusi: Pipeline ECR 2.0 —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011680" cy="182880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Tahap 1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Input CSV</a:t>
            </a:r>
          </a:p>
          <a:p>
            <a:pPr>
              <a:defRPr sz="600"/>
            </a:p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Dataset Twitter/X</a:t>
            </a:r>
            <a:br/>
            <a:r>
              <a:t>(from_id, username, text, reply, retweet, mention)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0320" y="2788920"/>
            <a:ext cx="32004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0360" y="2011680"/>
            <a:ext cx="2011680" cy="182880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Tahap 2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Sentiment Analysis</a:t>
            </a:r>
          </a:p>
          <a:p>
            <a:pPr>
              <a:defRPr sz="600"/>
            </a:p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Fine-tuned XLM-RoBERTa</a:t>
            </a:r>
            <a:br/>
            <a:r>
              <a:t>→ p_neg, p_neu, p_pos per tweet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92040" y="2788920"/>
            <a:ext cx="32004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0" y="2011680"/>
            <a:ext cx="2011680" cy="182880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Tahap 3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Graf Interaksi</a:t>
            </a:r>
          </a:p>
          <a:p>
            <a:pPr>
              <a:defRPr sz="600"/>
            </a:p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Directed weighted graph</a:t>
            </a:r>
            <a:br/>
            <a:r>
              <a:t>Node = username, Edge = interaksi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23760" y="2788920"/>
            <a:ext cx="32004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43800" y="2011680"/>
            <a:ext cx="2011680" cy="18288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Tahap 4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 Leaning</a:t>
            </a:r>
            <a:br/>
            <a:r>
              <a:t>&amp; Community</a:t>
            </a:r>
          </a:p>
          <a:p>
            <a:pPr>
              <a:defRPr sz="600"/>
            </a:p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Leaning ∈ [-1,+1] + Leiden + Infomap</a:t>
            </a:r>
            <a:br/>
            <a:r>
              <a:t>(parallel community detection)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55480" y="2788920"/>
            <a:ext cx="32004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2011680"/>
            <a:ext cx="2011680" cy="1828800"/>
          </a:xfrm>
          <a:prstGeom prst="round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Tahap 5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ECR 2.0 &amp;</a:t>
            </a:r>
            <a:br/>
            <a:r>
              <a:t>Validasi</a:t>
            </a:r>
          </a:p>
          <a:p>
            <a:pPr>
              <a:defRPr sz="600"/>
            </a:p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ECR = intra/inter agreement</a:t>
            </a:r>
            <a:br/>
            <a:r>
              <a:t>+ Bootstrap CI, Permutation Test, Quality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Calibri"/>
              </a:defRPr>
            </a:pPr>
            <a:r>
              <a:t>Output: 10 visualisasi PNG + CSV (users, communities) + TXT (ECR metrics, comparison) + Verdict echo chamber / non-echo chamber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Tahap 1: Preprocessing &amp; 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Calibri"/>
              </a:defRPr>
            </a:pPr>
            <a:r>
              <a:t>Fine-tuned XLM-RoBERTa untuk Bahasa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Model: cardiffnlp/twitter-xlm-roberta-base-sentiment-multilingual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Di-fine-tune pada dataset sentimen Indonesia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3-class: negative, neutral, positive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Output probabilitas: p_neg, p_neu, p_pos per tweet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Proses: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Batch processing (batch_size=64, max_length=128)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GPU acceleration (CUDA) jika tersedia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Auto-caching: hasil inferensi disimpan ke CSV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→ tidak perlu re-run saat eksperimen berulang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Keunggulan vs Model Generic: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Memahami bahasa informal Indonesia (slang, singkatan)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Pre-trained pada data Twitter multilingual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• Fine-tuned spesifik untuk konteks isu Indonesia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Konversi ke User Leaning: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lean_scalar = p_pos - p_neg  (range [-1, +1])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-1 = contra, 0 = neutral, +1 = pro topik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Tahap 2: Konstruksi Graf Interaksi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Calibri"/>
              </a:defRPr>
            </a:pPr>
            <a:r>
              <a:t>Directed Weighted Interaction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Jenis Interaksi (Edge Types):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Reply: user A membalas tweet user B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Retweet: user A me-retweet tweet user B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Mention: user A menyebut user B di tweet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Properti Graf: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Directed: arah interaksi dipertahankan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Weighted: bobot = jumlah interaksi antar user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Node = username (bukan user ID)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Filter: hanya user yang memiliki konten (tweet)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Contoh: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@user_A → reply → @user_B  (weight=3)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@user_A → retweet → @user_C  (weight=1)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@user_B → mention → @user_A  (weight=2)</a:t>
            </a:r>
          </a:p>
        </p:txBody>
      </p:sp>
      <p:pic>
        <p:nvPicPr>
          <p:cNvPr id="6" name="Picture 5" descr="08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5024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Tahap 3: User Leaning &amp; Community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Calibri"/>
              </a:defRPr>
            </a:pPr>
            <a:r>
              <a:t>Dual Algorithm: Leiden + Infomap (Parallel)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Leiden Algorithm: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Optimasi modularitas (perbaikan dari Louvain)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Menjamin connected communities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Parameter: resolution (mempengaruhi granularity)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Lebih cepat dan stabil untuk graf besar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Infomap Algorithm: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Optimasi information flow (random walk compression)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Deteksi komunitas berdasarkan arus informasi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Efektif untuk graf directed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Perspektif berbeda dari modularity-based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Mengapa Dual?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Cross-validation antar algoritma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NMI mengukur konsistensi hasil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Meningkatkan confidence pada hasil ECR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Jika NMI rendah → perlu investigasi lebih lanjut</a:t>
            </a:r>
          </a:p>
        </p:txBody>
      </p:sp>
      <p:pic>
        <p:nvPicPr>
          <p:cNvPr id="6" name="Picture 5" descr="03_community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5029200" cy="24756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Tahap 4: ECR 2.0 &amp; Validasi Statistik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Calibri"/>
              </a:defRPr>
            </a:pPr>
            <a:r>
              <a:t>Echo Chamber Ratio + Multiple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Formula ECR 2.0: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             E[intra-community agreement]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ECR  =  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             E[inter-community agreement]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intra = avg similarity user dalam komunitas SAMA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inter = avg similarity user dari komunitas BERBEDA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ECR &lt; threshold → ECHO CHAMBER DETECTED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Validasi Statistik: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1. Null Model Threshold — ECR dari N graf random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2. Bootstrap 95% CI — resample users 100x,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  hitung ECR per sample → interval kepercayaan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3. Permutation Test — shuffle leaning labels 100x,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  hitung p-value → signifikansi statistik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Community Quality Metrics: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Modularity &gt; 0.3 → meaningful communities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Coverage — fraksi intra-community edges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Conductance &lt; 0.5 → well-separated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NMI (Leiden ↔ Infomap) &gt; 0.5 → konsisten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Tahap 5: Analisis Lanjutan &amp; Visualisasi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Homophily Analysis: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Pearson correlation: user leaning vs neighbor leaning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r &gt; 0.3 → homophily exists (birds of a feather)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Diffusion Bias (Independent Cascade):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Simulasi penyebaran informasi di graf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Ukur apakah informasi cenderung menyebar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 ke user yang sepandangan (bias) atau tidak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Metrik: slope, R², bias_ratio, Cohen's 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Community Classification: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Setiap komunitas diklasifikasi: pro/neutral/contra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Berdasarkan rata-rata leaning anggota komunitas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Top users per stance (most influential)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10 Visualisasi Otomatis: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01. Calibration Impact (reliability diagrams)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02. User Leaning (histogram + scatter)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03. Community Sizes (bar chart)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04. ECR Results &amp; Homophily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05. Diffusion Bias (regression + histogram)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06. Pro/Contra Analysis (stance + top users)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07. Sentiment Shifts (trajectory + flow)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08. Network Graph (spring layout)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09. Degree Distribution (total/in/out)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10. Sentiment Sample (10 contoh)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Implementasi: Web GUI (NiceGUI)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Calibri"/>
              </a:defRPr>
            </a:pPr>
            <a:r>
              <a:t>Antarmuka interaktif untuk pipeline ECR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Teknologi: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Python + NiceGUI (web framework)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Berjalan di http://localhost:8080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Responsive, real-time progress logging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Fitur GUI: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Input: path dataset CSV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Konfigurasi parameter dengan tooltip info (i)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Real-time log panel (setiap tahap pipeline)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Hasil langsung ditampilkan di browser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10 visualisasi otomatis di halaman web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Fitur Tambahan: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Load Previous Results — untuk demo/presentasi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 (load hasil pipeline sebelumnya secara instan)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Auto-cache sentimen (skip inference jika sudah ada)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GPU acceleration otomatis jika CUDA tersedia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File: main_gui.py (~950 baris)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Dependencies: 13 packages (requirements.txt)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Dataset &amp; Eksperimen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Dataset Percakapan Twitter/X Indonesia: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Dataset                     Rows         Users      Topik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Boikot McDonald's          ~515K        ~168K      Boikot produk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Indonesia Gelap             varies       varies     Isu nasional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Vaksinasi                   varies       varies     Pro/anti vaksin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Format Input CSV: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from_id, from_username — identitas pengirim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cleaned_text — teks tweet yang sudah dibersihkan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reply_to_user_id — target reply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retweet_from_user_id — sumber retweet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mentioned — daftar user yang di-mention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Eksperimen dilakukan dengan: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Leiden resolution: auto-optimized (~5.2 untuk Boikot)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Infomap: directed mode, 2-level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Bootstrap: 100 samples, Permutation: 100 iterations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• Diffusion: Independent Cascade, p_activate=0.05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Hasil: ECR — Leiden vs Infomap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Calibri"/>
              </a:defRPr>
            </a:pPr>
            <a:r>
              <a:t>Dataset: Boikot McDonald's (~515K tweets, ~168K users)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Perbandingan Leiden vs Infomap: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Metrik                      Leiden      Infomap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Jumlah Komunitas              2138         3663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Intra-community agreement     0.828        0.831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Inter-community agreement     0.849        0.848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ECR 2.0 Ratio                 0.976        0.981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Threshold (Null Model)        1.000        1.000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Klasifikasi               Non-Echo    Non-Echo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Verdict: FENOMENA NON-ECHO CHAMBER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(ECR &gt; threshold pada kedua algoritma)</a:t>
            </a:r>
          </a:p>
        </p:txBody>
      </p:sp>
      <p:pic>
        <p:nvPicPr>
          <p:cNvPr id="6" name="Picture 5" descr="04_ecr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18637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Hasil: Community Quality &amp; Validation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Community Quality Validation: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Metrik                      Leiden      Infomap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Modularity                   0.634        0.640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Coverage                     0.619        0.712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Performance                  0.986        0.924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Conductance (mean)           0.031        0.052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NMI (Leiden ↔ Infomap):  0.679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Homophily (Pearson r):   0.490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Interpretasi: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✓ Modularity &gt; 0.3 → komunitas meaningful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✓ Conductance &lt; 0.5 → komunitas well-separated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✓ NMI &gt; 0.5 → Leiden &amp; Infomap konsisten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✓ Coverage tinggi → mayoritas edge dalam komunitas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✓ Homophily moderat → ada kecenderungan berinteraksi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 dengan user sepandangan, tapi tidak ekstrem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Hasil Visualisasi (1): Sentimen &amp; User Leaning</a:t>
            </a:r>
          </a:p>
        </p:txBody>
      </p:sp>
      <p:pic>
        <p:nvPicPr>
          <p:cNvPr id="4" name="Picture 3" descr="01_calibratio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4375076"/>
          </a:xfrm>
          <a:prstGeom prst="rect">
            <a:avLst/>
          </a:prstGeom>
        </p:spPr>
      </p:pic>
      <p:pic>
        <p:nvPicPr>
          <p:cNvPr id="5" name="Picture 4" descr="02_user_lea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15446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Hasil Visualisasi (2): Komunitas &amp; ECR</a:t>
            </a:r>
          </a:p>
        </p:txBody>
      </p:sp>
      <p:pic>
        <p:nvPicPr>
          <p:cNvPr id="4" name="Picture 3" descr="03_community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2790677"/>
          </a:xfrm>
          <a:prstGeom prst="rect">
            <a:avLst/>
          </a:prstGeom>
        </p:spPr>
      </p:pic>
      <p:pic>
        <p:nvPicPr>
          <p:cNvPr id="5" name="Picture 4" descr="04_ecr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19922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Hasil Visualisasi (3): Diffusion Bias &amp; Network</a:t>
            </a:r>
          </a:p>
        </p:txBody>
      </p:sp>
      <p:pic>
        <p:nvPicPr>
          <p:cNvPr id="4" name="Picture 3" descr="05_diffusion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4237091"/>
          </a:xfrm>
          <a:prstGeom prst="rect">
            <a:avLst/>
          </a:prstGeom>
        </p:spPr>
      </p:pic>
      <p:pic>
        <p:nvPicPr>
          <p:cNvPr id="5" name="Picture 4" descr="06_pro_cont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42329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Analisis Akhir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Temuan Utama — Boikot McDonald's: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1. Tidak ditemukan echo chamber yang kuat (ECR ≈ 0.98)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Intra-community agreement ≈ inter-community agreement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Pengguna pro dan kontra masih saling berinteraksi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2. Komunitas memiliki modularity tinggi (&gt;0.63)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Pembagian komunitas jelas dan meaningful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Bukan artefak dari algoritma deteksi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3. Homophily moderat (r = 0.49)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Ada kecenderungan berinteraksi dengan user sepandangan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Namun tidak cukup kuat untuk membentuk echo chamber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4. Diffusion bias positif tapi lemah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Informasi sedikit bias ke user sepandangan (slope=0.30)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Cohen's d = -0.15 → efek size sangat kecil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5. Leiden dan Infomap memberikan hasil konsisten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NMI = 0.679 → kedua algoritma menemukan struktur serupa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Meningkatkan confidence pada kesimpulan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1. Pipeline ECR 2.0 berhasil dikembangkan sebagai tools otomatis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end-to-end untuk mengukur echo chamber di media sosial Indonesia.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2. Fine-tuned XLM-RoBERTa efektif untuk analisis sentimen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bahasa Indonesia informal (tweet, slang, singkatan).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3. Pendekatan dual community detection (Leiden + Infomap) memberikan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cross-validation yang meningkatkan reliabilitas hasil — dibuktikan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dengan NMI &gt; 0.5 pada semua eksperimen.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4. Multiple validation metrics (Bootstrap CI, Permutation Test,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Modularity, Coverage, Conductance) memberikan bukti statistik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yang kuat mengenai ada/tidaknya echo chamber.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5. Web GUI (NiceGUI) memungkinkan analisis interaktif tanpa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memerlukan kemampuan programming — cocok untuk peneliti,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jurnalis, dan policy-maker.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6. Pada dataset Boikot McDonald's (~515K tweet), hasil menunjukkan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fenomena non-echo chamber (ECR &gt; threshold) dengan homophily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moderat, mengindikasikan dialog lintas pandangan masih terjadi.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Saran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Saran untuk Pengembangan Selanjutnya: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1. Temporal Analysis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Analisis evolusi echo chamber dari waktu ke waktu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Deteksi kapan echo chamber mulai terbentuk/hilang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2. Dataset Lebih Beragam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Uji pada lebih banyak topik kontroversial Indonesia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Perbandingan lintas platform (Twitter, Instagram, TikTok)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3. Model Sentimen Lebih Lanjut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Aspect-Based Sentiment Analysis (ABSA)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Integrasi dengan LLM (GPT, Gemini) untuk zero-shot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4. Skalabilitas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Optimasi untuk dataset &gt;1M tweet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Distributed computing (Spark, Dask)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5. Deployment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Deploy sebagai web service (cloud-hosted)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API endpoint untuk integrasi dengan sistem lain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   • Dashboard real-time monitoring echo chamber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2A5F5"/>
                </a:solidFill>
                <a:latin typeface="Calibri"/>
              </a:defRPr>
            </a:pPr>
            <a:r>
              <a:t>Pengukuran Echo Chamber di Media Sosial Indonesia</a:t>
            </a:r>
            <a:br/>
            <a:r>
              <a:t>Menggunakan Framework ECR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EFB"/>
                </a:solidFill>
                <a:latin typeface="Calibri"/>
              </a:defRPr>
            </a:pPr>
            <a:r>
              <a:t>Amalia Putri — Teknik Informatika — STEI ITB —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Pertanyaan?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